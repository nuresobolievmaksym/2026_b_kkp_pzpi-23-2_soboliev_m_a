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Roboto Medium"/>
      <p:regular r:id="rId21"/>
      <p:bold r:id="rId22"/>
      <p:italic r:id="rId23"/>
      <p:boldItalic r:id="rId24"/>
    </p:embeddedFon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D74177-81E0-4C7C-A66E-D42F300C8402}">
  <a:tblStyle styleId="{A6D74177-81E0-4C7C-A66E-D42F300C840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Medium-bold.fntdata"/><Relationship Id="rId21" Type="http://schemas.openxmlformats.org/officeDocument/2006/relationships/font" Target="fonts/RobotoMedium-regular.fntdata"/><Relationship Id="rId24" Type="http://schemas.openxmlformats.org/officeDocument/2006/relationships/font" Target="fonts/RobotoMedium-boldItalic.fntdata"/><Relationship Id="rId23" Type="http://schemas.openxmlformats.org/officeDocument/2006/relationships/font" Target="fonts/Roboto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9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13.png"/><Relationship Id="rId8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30.png"/><Relationship Id="rId7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Relationship Id="rId5" Type="http://schemas.openxmlformats.org/officeDocument/2006/relationships/image" Target="../media/image3.png"/><Relationship Id="rId6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4700" y="317725"/>
            <a:ext cx="9742600" cy="62225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0255" y="5018703"/>
            <a:ext cx="8811488" cy="105601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690255" y="783281"/>
            <a:ext cx="88116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1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МІНІСТЕРСТВО ОСВІТИ І НАУКИ УКРАЇНИ</a:t>
            </a:r>
            <a:br>
              <a:rPr b="0" i="0" lang="en-US" sz="214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41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ХАРКІВСЬКИЙ НАЦІОНАЛЬНИЙ УНІВЕРСИТЕТ РАДІОЕЛЕКТРОНІКИ</a:t>
            </a:r>
            <a:endParaRPr sz="1669"/>
          </a:p>
        </p:txBody>
      </p:sp>
      <p:sp>
        <p:nvSpPr>
          <p:cNvPr id="87" name="Google Shape;87;p13"/>
          <p:cNvSpPr/>
          <p:nvPr/>
        </p:nvSpPr>
        <p:spPr>
          <a:xfrm>
            <a:off x="1690255" y="1362387"/>
            <a:ext cx="8811600" cy="11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54475" lIns="109000" spcFirstLastPara="1" rIns="109000" wrap="square" tIns="54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144456" y="1827942"/>
            <a:ext cx="7903200" cy="9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3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Комплексний курсовий проєкт</a:t>
            </a:r>
            <a:br>
              <a:rPr b="0" i="0" lang="en-US" sz="214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503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«Веб-портал для планування занять»</a:t>
            </a:r>
            <a:endParaRPr sz="1669"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4456" y="5200383"/>
            <a:ext cx="397425" cy="3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825757" y="5257158"/>
            <a:ext cx="32703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1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Виконав:</a:t>
            </a:r>
            <a:br>
              <a:rPr b="0" i="0" lang="en-US" sz="214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31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ст. гр. ПЗПІ-23-2</a:t>
            </a:r>
            <a:br>
              <a:rPr b="0" i="0" lang="en-US" sz="214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31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Соболєв Максим</a:t>
            </a:r>
            <a:endParaRPr sz="1669"/>
          </a:p>
        </p:txBody>
      </p:sp>
      <p:sp>
        <p:nvSpPr>
          <p:cNvPr id="91" name="Google Shape;91;p13"/>
          <p:cNvSpPr txBox="1"/>
          <p:nvPr/>
        </p:nvSpPr>
        <p:spPr>
          <a:xfrm>
            <a:off x="6777301" y="5257158"/>
            <a:ext cx="37245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1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Науковий керівник:</a:t>
            </a:r>
            <a:br>
              <a:rPr b="0" i="0" lang="en-US" sz="214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31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ст. викл. каф. ПІ</a:t>
            </a:r>
            <a:br>
              <a:rPr b="0" i="0" lang="en-US" sz="214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31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Гребенюк В. О.</a:t>
            </a:r>
            <a:endParaRPr sz="1669"/>
          </a:p>
        </p:txBody>
      </p:sp>
      <p:pic>
        <p:nvPicPr>
          <p:cNvPr descr="image.png" id="92" name="Google Shape;9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75038" y="5308255"/>
            <a:ext cx="136260" cy="18168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/>
          <p:nvPr/>
        </p:nvSpPr>
        <p:spPr>
          <a:xfrm>
            <a:off x="213050" y="6117425"/>
            <a:ext cx="385500" cy="375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252650" y="6058775"/>
            <a:ext cx="584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565785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48577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200150" y="519112"/>
            <a:ext cx="147018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Мета роботи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812" y="576262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962025" y="1257300"/>
            <a:ext cx="7886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Аналіз процесів спільного планування та координації навчальних занять у реальному часі.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62025" y="1615380"/>
            <a:ext cx="7886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Дослідження технологій Server-Sent Events (SSE) та WebSockets для побудови реактивних інтерфейсів.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62025" y="1973460"/>
            <a:ext cx="7886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Проєктування архітектури ПЗ з низьким рівнем затримки та рольовим розмежуванням доступу (RBAC).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62025" y="2331541"/>
            <a:ext cx="7886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Реалізація системи відстеження присутності (Presence) на базі Heartbeats-сигналів.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62025" y="2689621"/>
            <a:ext cx="7886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Впровадження засобів мультимедійного сповіщення та інтерактивного Markdown-парсингу.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62025" y="3047702"/>
            <a:ext cx="7886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Експериментальна оцінка ефективності обміну даними.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76275" y="125730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B800"/>
                </a:solidFill>
                <a:latin typeface="Roboto"/>
                <a:ea typeface="Roboto"/>
                <a:cs typeface="Roboto"/>
                <a:sym typeface="Roboto"/>
              </a:rPr>
              <a:t>☉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76275" y="161538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B800"/>
                </a:solidFill>
                <a:latin typeface="Roboto"/>
                <a:ea typeface="Roboto"/>
                <a:cs typeface="Roboto"/>
                <a:sym typeface="Roboto"/>
              </a:rPr>
              <a:t>☉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76275" y="197346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B800"/>
                </a:solidFill>
                <a:latin typeface="Roboto"/>
                <a:ea typeface="Roboto"/>
                <a:cs typeface="Roboto"/>
                <a:sym typeface="Roboto"/>
              </a:rPr>
              <a:t>☉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76275" y="2331541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B800"/>
                </a:solidFill>
                <a:latin typeface="Roboto"/>
                <a:ea typeface="Roboto"/>
                <a:cs typeface="Roboto"/>
                <a:sym typeface="Roboto"/>
              </a:rPr>
              <a:t>☉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76275" y="2689621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B800"/>
                </a:solidFill>
                <a:latin typeface="Roboto"/>
                <a:ea typeface="Roboto"/>
                <a:cs typeface="Roboto"/>
                <a:sym typeface="Roboto"/>
              </a:rPr>
              <a:t>☉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76275" y="3047702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B800"/>
                </a:solidFill>
                <a:latin typeface="Roboto"/>
                <a:ea typeface="Roboto"/>
                <a:cs typeface="Roboto"/>
                <a:sym typeface="Roboto"/>
              </a:rPr>
              <a:t>☉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565785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48577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1200150" y="519112"/>
            <a:ext cx="349043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Аналіз архітектурних проблем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812" y="576262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676275" y="1257300"/>
            <a:ext cx="388048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Обмеження LMS та Polling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76275" y="1659135"/>
            <a:ext cx="3695700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Статичні системи не забезпечують живої координації. Використання Short Polling призводить до надлишкового навантаження на сервер через постійні HTTP-запити за відсутності оновлень контенту.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953000" y="1257300"/>
            <a:ext cx="4090511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Розсинхронізація розкладу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953000" y="1659135"/>
            <a:ext cx="38957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Будь-яка зміна плану уроку викладачем потребує ручного оновлення сторінки студентом, що створює часові затримки та руйнує ефект спільної роботи в реальному часі.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565785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48577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1200150" y="519112"/>
            <a:ext cx="328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Порівняння систем-аналогів</a:t>
            </a:r>
            <a:endParaRPr/>
          </a:p>
        </p:txBody>
      </p:sp>
      <p:graphicFrame>
        <p:nvGraphicFramePr>
          <p:cNvPr id="134" name="Google Shape;134;p16"/>
          <p:cNvGraphicFramePr/>
          <p:nvPr/>
        </p:nvGraphicFramePr>
        <p:xfrm>
          <a:off x="676275" y="12573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{A6D74177-81E0-4C7C-A66E-D42F300C8402}</a:tableStyleId>
              </a:tblPr>
              <a:tblGrid>
                <a:gridCol w="1629375"/>
                <a:gridCol w="2771925"/>
                <a:gridCol w="3761625"/>
              </a:tblGrid>
              <a:tr h="57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Рішення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Переваги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Недоліки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57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Класичні LMS (Moodle)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Стабільність, збирання асинхронних матеріалів.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Відсутність real-time інструментів та живого чату.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Task-Managers (Notion)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Спільне редагування, потужні БД.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Відсутність Presence-трекінгу та рольової моделі «Викладач-Учень».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Interactive Lesson Planner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Реактивність інтерфейсу, низький оверхед SSE.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Обмеження файлового сховища (на етапі прототипу).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812" y="576262"/>
            <a:ext cx="1143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565785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48577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1200150" y="519112"/>
            <a:ext cx="3830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Обґрунтування вибору технології</a:t>
            </a:r>
            <a:endParaRPr/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812" y="576262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676275" y="1400175"/>
            <a:ext cx="389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Для масових сповіщень обрано комбінацію </a:t>
            </a:r>
            <a:r>
              <a:rPr b="1" i="0" lang="en-US" sz="11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REST + SSE</a:t>
            </a:r>
            <a:r>
              <a:rPr b="0" i="0" lang="en-US" sz="11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62025" y="1819275"/>
            <a:ext cx="3609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Низький оверхед:</a:t>
            </a:r>
            <a:r>
              <a:rPr b="0" i="0" lang="en-US" sz="10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Використання HTTP/2 стрімів без бінарних заголовків.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62025" y="2360116"/>
            <a:ext cx="3609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Built-in Reconnection:</a:t>
            </a:r>
            <a:r>
              <a:rPr b="0" i="0" lang="en-US" sz="10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Автоматичне відновлення зв'язку браузером.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62025" y="2900957"/>
            <a:ext cx="3609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Стандарт HTTP:</a:t>
            </a:r>
            <a:r>
              <a:rPr b="0" i="0" lang="en-US" sz="10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Не потребує проксіювання чи складних фаєрволів.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76275" y="1819275"/>
            <a:ext cx="1335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B800"/>
                </a:solidFill>
                <a:latin typeface="Roboto"/>
                <a:ea typeface="Roboto"/>
                <a:cs typeface="Roboto"/>
                <a:sym typeface="Roboto"/>
              </a:rPr>
              <a:t>☉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76275" y="2360116"/>
            <a:ext cx="1335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B800"/>
                </a:solidFill>
                <a:latin typeface="Roboto"/>
                <a:ea typeface="Roboto"/>
                <a:cs typeface="Roboto"/>
                <a:sym typeface="Roboto"/>
              </a:rPr>
              <a:t>☉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76275" y="2900957"/>
            <a:ext cx="1335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B800"/>
                </a:solidFill>
                <a:latin typeface="Roboto"/>
                <a:ea typeface="Roboto"/>
                <a:cs typeface="Roboto"/>
                <a:sym typeface="Roboto"/>
              </a:rPr>
              <a:t>☉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565785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1257300"/>
            <a:ext cx="3895725" cy="1116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0" y="1257300"/>
            <a:ext cx="3895725" cy="1116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48577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1200150" y="519112"/>
            <a:ext cx="334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Постановка задачі та актори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76275" y="2611635"/>
            <a:ext cx="81726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Вимога:</a:t>
            </a:r>
            <a:r>
              <a:rPr b="0" i="0" lang="en-US" sz="10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Синхронізація інтерфейсу між багатьма клієнтами з затримкою не більше 1.5 сек.</a:t>
            </a:r>
            <a:endParaRPr/>
          </a:p>
        </p:txBody>
      </p:sp>
      <p:pic>
        <p:nvPicPr>
          <p:cNvPr descr="image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5812" y="576262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828675" y="1438275"/>
            <a:ext cx="14670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Викладач (Teacher):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28675" y="1701105"/>
            <a:ext cx="3591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Створення уроків, редагування планів (Markdown), контроль виконання чек-лістів, моніторинг присутності учнів.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105400" y="1438275"/>
            <a:ext cx="14289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Roboto"/>
                <a:ea typeface="Roboto"/>
                <a:cs typeface="Roboto"/>
                <a:sym typeface="Roboto"/>
              </a:rPr>
              <a:t>Здобувач (Student):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5105400" y="1701105"/>
            <a:ext cx="3591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Перегляд розкладу, відмітка власних завдань, участь у чаті уроку, Heartbeat-фіксація активності.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565785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48577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1200150" y="519112"/>
            <a:ext cx="334041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Компонентна архітектура ПЗ</a:t>
            </a:r>
            <a:endParaRPr/>
          </a:p>
        </p:txBody>
      </p:sp>
      <p:pic>
        <p:nvPicPr>
          <p:cNvPr descr="image.png" id="173" name="Google Shape;17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6762" y="5762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4350" y="1013738"/>
            <a:ext cx="11163302" cy="4830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565785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48577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1200150" y="519112"/>
            <a:ext cx="406050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Структура зберігання даних (JSON)</a:t>
            </a:r>
            <a:endParaRPr/>
          </a:p>
        </p:txBody>
      </p:sp>
      <p:graphicFrame>
        <p:nvGraphicFramePr>
          <p:cNvPr id="182" name="Google Shape;182;p20"/>
          <p:cNvGraphicFramePr/>
          <p:nvPr/>
        </p:nvGraphicFramePr>
        <p:xfrm>
          <a:off x="676275" y="12573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{A6D74177-81E0-4C7C-A66E-D42F300C8402}</a:tableStyleId>
              </a:tblPr>
              <a:tblGrid>
                <a:gridCol w="2237775"/>
                <a:gridCol w="1063825"/>
                <a:gridCol w="4861325"/>
              </a:tblGrid>
              <a:tr h="41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Об'єкт (Lesson)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Тип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Призначення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1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`title`, `subject`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Метадані уроку для фільтрації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`outline`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Конспект у форматі Markdown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`checklist`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Array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Завдання з параметром `roleVisibility`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`chat`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Array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Історія повідомлень заняття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83" name="Google Shape;18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6762" y="576262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565785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48577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1200150" y="519112"/>
            <a:ext cx="341042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Реалізація серверної частини</a:t>
            </a:r>
            <a:endParaRPr/>
          </a:p>
        </p:txBody>
      </p:sp>
      <p:pic>
        <p:nvPicPr>
          <p:cNvPr descr="image.png" id="191" name="Google Shape;19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6762" y="5762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6750" y="1331525"/>
            <a:ext cx="5753100" cy="30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565785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48577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1200150" y="519112"/>
            <a:ext cx="35604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Реалізація клієнтської частини</a:t>
            </a:r>
            <a:endParaRPr/>
          </a:p>
        </p:txBody>
      </p:sp>
      <p:pic>
        <p:nvPicPr>
          <p:cNvPr descr="image.png" id="200" name="Google Shape;20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6762" y="5762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275" y="1511450"/>
            <a:ext cx="4476750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565785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1733550"/>
            <a:ext cx="1634430" cy="11141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5565" y="1733550"/>
            <a:ext cx="1634430" cy="11141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4855" y="1733550"/>
            <a:ext cx="1634430" cy="11141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14145" y="1733550"/>
            <a:ext cx="1634430" cy="11141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" y="48577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1200150" y="519112"/>
            <a:ext cx="355044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Конвеєр Presence-моніторингу</a:t>
            </a:r>
            <a:endParaRPr/>
          </a:p>
        </p:txBody>
      </p:sp>
      <p:pic>
        <p:nvPicPr>
          <p:cNvPr descr="image.png" id="213" name="Google Shape;21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6762" y="57626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/>
          <p:nvPr/>
        </p:nvSpPr>
        <p:spPr>
          <a:xfrm>
            <a:off x="676275" y="1828800"/>
            <a:ext cx="817245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1426815" y="1733550"/>
            <a:ext cx="133350" cy="133350"/>
          </a:xfrm>
          <a:prstGeom prst="roundRect">
            <a:avLst>
              <a:gd fmla="val 50000" name="adj"/>
            </a:avLst>
          </a:prstGeom>
          <a:solidFill>
            <a:srgbClr val="E6B800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993427" y="2038350"/>
            <a:ext cx="10001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Heartbeat (0s)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676275" y="2367855"/>
            <a:ext cx="1634430" cy="365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Клієнт кожні 6с надсилає сигнал</a:t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3606105" y="1733550"/>
            <a:ext cx="133350" cy="133350"/>
          </a:xfrm>
          <a:prstGeom prst="roundRect">
            <a:avLst>
              <a:gd fmla="val 50000" name="adj"/>
            </a:avLst>
          </a:prstGeom>
          <a:solidFill>
            <a:srgbClr val="E6B800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334642" y="2038350"/>
            <a:ext cx="676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Audit (5s)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2855565" y="2367855"/>
            <a:ext cx="163443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Сервер перевіряє мітки часу</a:t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5785395" y="1733550"/>
            <a:ext cx="133350" cy="133350"/>
          </a:xfrm>
          <a:prstGeom prst="roundRect">
            <a:avLst>
              <a:gd fmla="val 50000" name="adj"/>
            </a:avLst>
          </a:prstGeom>
          <a:solidFill>
            <a:srgbClr val="E6B800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5366295" y="2038350"/>
            <a:ext cx="9715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Timeout (12s)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5034855" y="2367855"/>
            <a:ext cx="1634430" cy="365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Фіксація відсутності активності</a:t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7964685" y="1733550"/>
            <a:ext cx="133350" cy="133350"/>
          </a:xfrm>
          <a:prstGeom prst="roundRect">
            <a:avLst>
              <a:gd fmla="val 50000" name="adj"/>
            </a:avLst>
          </a:prstGeom>
          <a:solidFill>
            <a:srgbClr val="E6B800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7683698" y="2038350"/>
            <a:ext cx="6953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Broadcast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7214145" y="2367855"/>
            <a:ext cx="163443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Оновлення статусу Offline у UI</a:t>
            </a:r>
            <a:endParaRPr/>
          </a:p>
        </p:txBody>
      </p:sp>
      <p:pic>
        <p:nvPicPr>
          <p:cNvPr id="227" name="Google Shape;227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93425" y="2969652"/>
            <a:ext cx="6724650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565785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48577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/>
        </p:nvSpPr>
        <p:spPr>
          <a:xfrm>
            <a:off x="1200150" y="519112"/>
            <a:ext cx="331041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Реалізація парсингу та звуку</a:t>
            </a:r>
            <a:endParaRPr/>
          </a:p>
        </p:txBody>
      </p:sp>
      <p:pic>
        <p:nvPicPr>
          <p:cNvPr descr="image.png" id="235" name="Google Shape;23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6762" y="57626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676275" y="1257300"/>
            <a:ext cx="4090511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Markdown Parser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676275" y="1624905"/>
            <a:ext cx="3895725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Реалізовано на регулярних виразах (RegEx) для трансформації плану уроку в HTML без сторонніх залежностей. Підтримка заголовків, списків та виділення.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4953000" y="1257300"/>
            <a:ext cx="4090511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Web Audio API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4953000" y="1624905"/>
            <a:ext cx="3895725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Динамічний синтез звуку (C5, E5, G5) при сповіщеннях. Використання осциляторів дозволяє уникати завантаження статичних аудіофайлів.</a:t>
            </a:r>
            <a:endParaRPr/>
          </a:p>
        </p:txBody>
      </p:sp>
      <p:pic>
        <p:nvPicPr>
          <p:cNvPr id="240" name="Google Shape;24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275" y="2491675"/>
            <a:ext cx="5633901" cy="289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71276" y="2402000"/>
            <a:ext cx="5577024" cy="336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1257300"/>
            <a:ext cx="8172450" cy="444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" y="565785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48577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/>
        </p:nvSpPr>
        <p:spPr>
          <a:xfrm>
            <a:off x="1200150" y="519112"/>
            <a:ext cx="45805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Аналіз ефективності (Latency/Overhead)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676275" y="3345060"/>
            <a:ext cx="81724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SSE демонструє оптимальний баланс для однонаправлених оновлень.</a:t>
            </a:r>
            <a:endParaRPr/>
          </a:p>
        </p:txBody>
      </p:sp>
      <p:pic>
        <p:nvPicPr>
          <p:cNvPr descr="image.png" id="251" name="Google Shape;25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5812" y="576262"/>
            <a:ext cx="1143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565785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48577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6"/>
          <p:cNvSpPr txBox="1"/>
          <p:nvPr/>
        </p:nvSpPr>
        <p:spPr>
          <a:xfrm>
            <a:off x="1200150" y="519112"/>
            <a:ext cx="277034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Результати та висновки</a:t>
            </a:r>
            <a:endParaRPr/>
          </a:p>
        </p:txBody>
      </p:sp>
      <p:pic>
        <p:nvPicPr>
          <p:cNvPr descr="image.png" id="259" name="Google Shape;25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812" y="576262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6"/>
          <p:cNvSpPr txBox="1"/>
          <p:nvPr/>
        </p:nvSpPr>
        <p:spPr>
          <a:xfrm>
            <a:off x="962025" y="1257300"/>
            <a:ext cx="7886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Проєктування ПЗ:</a:t>
            </a: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Розроблено легковагову клієнт-серверу систему з миттєвим оновленням інтерфейсу.</a:t>
            </a:r>
            <a:endParaRPr/>
          </a:p>
        </p:txBody>
      </p:sp>
      <p:sp>
        <p:nvSpPr>
          <p:cNvPr id="261" name="Google Shape;261;p26"/>
          <p:cNvSpPr txBox="1"/>
          <p:nvPr/>
        </p:nvSpPr>
        <p:spPr>
          <a:xfrm>
            <a:off x="962025" y="1615380"/>
            <a:ext cx="7886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Швидкодія:</a:t>
            </a: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Використання SSE дозволило скоротити затримку синхронізації до 0.2 сек при мінімальному навантаженні на Node.js сервер.</a:t>
            </a:r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962025" y="2217241"/>
            <a:ext cx="7886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UX/UI:</a:t>
            </a: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Впроваджено систему Heartbeat-Presence та Web Audio сповіщення, що підвищує координацію навчального процесу.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962025" y="2819102"/>
            <a:ext cx="7886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Перспективи:</a:t>
            </a: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Наступні етапи модернізації передбачають міграцію на СУБД PostgreSQL та інтеграцію з Google Gemini API.</a:t>
            </a:r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676275" y="125730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B800"/>
                </a:solidFill>
                <a:latin typeface="Roboto"/>
                <a:ea typeface="Roboto"/>
                <a:cs typeface="Roboto"/>
                <a:sym typeface="Roboto"/>
              </a:rPr>
              <a:t>☉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676275" y="161538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B800"/>
                </a:solidFill>
                <a:latin typeface="Roboto"/>
                <a:ea typeface="Roboto"/>
                <a:cs typeface="Roboto"/>
                <a:sym typeface="Roboto"/>
              </a:rPr>
              <a:t>☉</a:t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676275" y="2217241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B800"/>
                </a:solidFill>
                <a:latin typeface="Roboto"/>
                <a:ea typeface="Roboto"/>
                <a:cs typeface="Roboto"/>
                <a:sym typeface="Roboto"/>
              </a:rPr>
              <a:t>☉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676275" y="2819102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B800"/>
                </a:solidFill>
                <a:latin typeface="Roboto"/>
                <a:ea typeface="Roboto"/>
                <a:cs typeface="Roboto"/>
                <a:sym typeface="Roboto"/>
              </a:rPr>
              <a:t>☉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